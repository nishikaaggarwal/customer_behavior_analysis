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dern No. 20" panose="02070704070505020303" pitchFamily="18" charset="0"/>
      <p:regular r:id="rId19"/>
    </p:embeddedFont>
    <p:embeddedFont>
      <p:font typeface="Raleway" panose="020F0502020204030204" pitchFamily="2" charset="0"/>
      <p:regular r:id="rId20"/>
    </p:embeddedFont>
    <p:embeddedFont>
      <p:font typeface="Roboto" panose="02000000000000000000" pitchFamily="2" charset="0"/>
      <p:regular r:id="rId21"/>
    </p:embeddedFont>
    <p:embeddedFont>
      <p:font typeface="Roboto Bold" panose="02000000000000000000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31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2790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89039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Analyst Portfolio Project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130366"/>
            <a:ext cx="1653335" cy="410633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  <p:txBody>
          <a:bodyPr/>
          <a:lstStyle/>
          <a:p>
            <a:r>
              <a:rPr lang="en-US" dirty="0"/>
              <a:t>NISHIKA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3256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Business Question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35822" y="1414388"/>
            <a:ext cx="2388691" cy="3275856"/>
          </a:xfrm>
          <a:prstGeom prst="roundRect">
            <a:avLst>
              <a:gd name="adj" fmla="val 3739"/>
            </a:avLst>
          </a:prstGeom>
          <a:solidFill>
            <a:srgbClr val="1F3864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959796" y="1538362"/>
            <a:ext cx="21407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59796" y="1856184"/>
            <a:ext cx="214074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retail company seeks to understand customer shopping behavior patterns across demographics, product categories, and purchase channels to drive strategic decision-making.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42546" y="1538362"/>
            <a:ext cx="22100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Objectives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42546" y="1856184"/>
            <a:ext cx="2210098" cy="1277541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overall sales performance and revenue growth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customer satisfaction through data-backed insights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customer loyalty and reduce churn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42546" y="3273251"/>
            <a:ext cx="2210098" cy="1277466"/>
          </a:xfrm>
          <a:prstGeom prst="roundRect">
            <a:avLst>
              <a:gd name="adj" fmla="val 4078"/>
            </a:avLst>
          </a:prstGeom>
          <a:solidFill>
            <a:srgbClr val="E1E1E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520" y="3457798"/>
            <a:ext cx="155004" cy="1239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45498" y="3415829"/>
            <a:ext cx="168317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Question: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can we leverage shopping transaction data to identify actionable trends and optimize marketing strategy?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227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803151"/>
            <a:ext cx="438983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044997"/>
            <a:ext cx="4389834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412974"/>
            <a:ext cx="438983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604814"/>
            <a:ext cx="438983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records analyzed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96119" y="1879774"/>
            <a:ext cx="4389834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6119" y="2247751"/>
            <a:ext cx="438983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2439591"/>
            <a:ext cx="438983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Attributes per record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96119" y="2714551"/>
            <a:ext cx="4389834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6119" y="3082528"/>
            <a:ext cx="438983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6119" y="3274368"/>
            <a:ext cx="438983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37 missing values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96119" y="3455417"/>
            <a:ext cx="438983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Data Fields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119" y="3654623"/>
            <a:ext cx="2165598" cy="487040"/>
          </a:xfrm>
          <a:prstGeom prst="roundRect">
            <a:avLst>
              <a:gd name="adj" fmla="val 73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60" y="3744664"/>
            <a:ext cx="1985516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Demographics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6160" y="3936504"/>
            <a:ext cx="198551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720280" y="3654623"/>
            <a:ext cx="2165672" cy="487040"/>
          </a:xfrm>
          <a:prstGeom prst="roundRect">
            <a:avLst>
              <a:gd name="adj" fmla="val 73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0321" y="3744664"/>
            <a:ext cx="198559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10321" y="3936504"/>
            <a:ext cx="1985590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Category, Amount, Season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96119" y="4200227"/>
            <a:ext cx="4389834" cy="487040"/>
          </a:xfrm>
          <a:prstGeom prst="roundRect">
            <a:avLst>
              <a:gd name="adj" fmla="val 73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60" y="4290268"/>
            <a:ext cx="4209752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6160" y="4482108"/>
            <a:ext cx="4209752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Subscription, Discount, Shipping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98777" y="803151"/>
            <a:ext cx="3553792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Quality Summary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98777" y="1002357"/>
            <a:ext cx="3553792" cy="1003027"/>
          </a:xfrm>
          <a:prstGeom prst="roundRect">
            <a:avLst>
              <a:gd name="adj" fmla="val 357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8777" y="1204392"/>
            <a:ext cx="3553792" cy="5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98777" y="1404045"/>
            <a:ext cx="3553792" cy="5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98777" y="1603697"/>
            <a:ext cx="3553792" cy="5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98777" y="1803350"/>
            <a:ext cx="3553792" cy="5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03614" y="1007120"/>
            <a:ext cx="1772096" cy="197272"/>
          </a:xfrm>
          <a:custGeom>
            <a:avLst/>
            <a:gdLst/>
            <a:ahLst/>
            <a:cxnLst/>
            <a:rect l="l" t="t" r="r" b="b"/>
            <a:pathLst>
              <a:path w="1772096" h="197272">
                <a:moveTo>
                  <a:pt x="29849" y="0"/>
                </a:moveTo>
                <a:lnTo>
                  <a:pt x="1772096" y="0"/>
                </a:lnTo>
                <a:lnTo>
                  <a:pt x="1772096" y="197272"/>
                </a:lnTo>
                <a:lnTo>
                  <a:pt x="0" y="197272"/>
                </a:lnTo>
                <a:lnTo>
                  <a:pt x="0" y="29849"/>
                </a:lnTo>
                <a:arcTo wR="29849" hR="29849" stAng="10800000" swAng="5400000"/>
                <a:close/>
              </a:path>
            </a:pathLst>
          </a:cu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5188893" y="1047006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Metric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875711" y="1007120"/>
            <a:ext cx="1772096" cy="197272"/>
          </a:xfrm>
          <a:custGeom>
            <a:avLst/>
            <a:gdLst/>
            <a:ahLst/>
            <a:cxnLst/>
            <a:rect l="l" t="t" r="r" b="b"/>
            <a:pathLst>
              <a:path w="1772096" h="197272">
                <a:moveTo>
                  <a:pt x="0" y="0"/>
                </a:moveTo>
                <a:lnTo>
                  <a:pt x="1742248" y="0"/>
                </a:lnTo>
                <a:arcTo wR="29849" hR="29849" stAng="16200000" swAng="5400000"/>
                <a:lnTo>
                  <a:pt x="1772096" y="197272"/>
                </a:lnTo>
                <a:lnTo>
                  <a:pt x="0" y="197272"/>
                </a:lnTo>
                <a:lnTo>
                  <a:pt x="0" y="0"/>
                </a:lnTo>
                <a:close/>
              </a:path>
            </a:pathLst>
          </a:cu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6960989" y="1047006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188893" y="1246659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Transactions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960989" y="1246659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188893" y="1446312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Columns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960989" y="1446312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188893" y="1645965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960989" y="1645965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188893" y="1845618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Completeness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0989" y="1845618"/>
            <a:ext cx="2058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D6336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99.05%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098777" y="2071315"/>
            <a:ext cx="4010992" cy="9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 are isolated to the Review Rating column (0.95% of records) — minimal impact on analytical integrity.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40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3-Step Analytical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966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follows a structured end-to-end analytical pipeline — from raw data ingestion to executive-ready visualization — using three industry-standard tools in sequence.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36118"/>
            <a:ext cx="2717229" cy="496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0092" y="265621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 — Python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2924473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cleaning, feature engineering, exploratory data analysis, and statistical summaries using pandas and matplotlib.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2036118"/>
            <a:ext cx="2717229" cy="496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322" y="265621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 — SQL / PostgreSQL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337322" y="2924473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queries, revenue aggregations, customer segmentation logic, and cohort analysis using structured relational queries.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036118"/>
            <a:ext cx="2717229" cy="4961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4551" y="265621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 — Power BI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54551" y="2924473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 development, KPI card visualization, and dynamic filtering for stakeholder-ready insights presentation.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783360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E1E1E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92" y="3963144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938290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tool handles a distinct layer of the workflow — Python for preparation, SQL for querying, Power BI for communication.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088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 Highlights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843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Cleaning Steps Performed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0181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627" y="142506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1444451"/>
            <a:ext cx="3521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Value Imputation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1762274"/>
            <a:ext cx="352157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category-wise median imputation for the 37 missing Review Rating values — preserving segment-level accuracy rather than using a global mean.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605683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627" y="262893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9145" y="2648322"/>
            <a:ext cx="3521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 Standardization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9145" y="2966145"/>
            <a:ext cx="352157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all 18 column headers to consistent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format for downstream SQL compatibility and code readability.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61585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627" y="363910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9145" y="3658493"/>
            <a:ext cx="3521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Redundancy Removal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145" y="3976315"/>
            <a:ext cx="352157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and dropped the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column, which was fully redundant with the discount applied field.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8046" y="106843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1401812"/>
            <a:ext cx="3924598" cy="99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23458" y="1540073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 Bins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23458" y="1857896"/>
            <a:ext cx="359092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categorical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segments (e.g., Young Adult, Middle-Aged) to enable demographic cohort analysis.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2521818"/>
            <a:ext cx="3924598" cy="99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23458" y="2660079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Frequency Days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23458" y="2977902"/>
            <a:ext cx="359092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Engineered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field to quantify recency and identify high-frequency buyer patterns.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46" y="3641824"/>
            <a:ext cx="3924598" cy="99127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23458" y="3780086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 &amp; Deduplication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923458" y="4097908"/>
            <a:ext cx="359092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all data types matched expected schemas and confirmed zero duplicate transaction records in the final dataset.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433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Gender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0994"/>
            <a:ext cx="4798368" cy="3152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0974" y="921916"/>
            <a:ext cx="3121670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 Revenue Breakdown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530974" y="1199480"/>
            <a:ext cx="312167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$157K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530974" y="1614860"/>
            <a:ext cx="3121670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 Revenue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30974" y="1835869"/>
            <a:ext cx="31216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67.7% of total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530974" y="2162845"/>
            <a:ext cx="312167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$75K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5530974" y="2578224"/>
            <a:ext cx="3121670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Female Revenue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30974" y="2799234"/>
            <a:ext cx="31216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32.3% of total</a:t>
            </a:r>
            <a:endParaRPr lang="en-US" sz="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0974" y="3015109"/>
            <a:ext cx="3121670" cy="8322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73551" y="3119586"/>
            <a:ext cx="2874615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2.1× Revenue Multiplier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673551" y="3340596"/>
            <a:ext cx="2874615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more than double the revenue of female customers — a statistically significant disparity warranting targeted strategy.</a:t>
            </a:r>
            <a:endParaRPr lang="en-US" sz="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0974" y="3920058"/>
            <a:ext cx="3121670" cy="69815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73551" y="4024536"/>
            <a:ext cx="2874615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Marketing Implication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673551" y="4245546"/>
            <a:ext cx="2874615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segment may represent an underserved growth opportunity. Tailored campaigns could substantially close the revenue gap.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169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Subscribers vs. Non-Subscribers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84808"/>
            <a:ext cx="4347270" cy="2983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0718" y="1069256"/>
            <a:ext cx="35018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150718" y="1402631"/>
            <a:ext cx="3501851" cy="2011114"/>
          </a:xfrm>
          <a:prstGeom prst="roundRect">
            <a:avLst>
              <a:gd name="adj" fmla="val 25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50718" y="1965052"/>
            <a:ext cx="3501851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50718" y="2326630"/>
            <a:ext cx="3501851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150718" y="2688208"/>
            <a:ext cx="3501851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150718" y="3049786"/>
            <a:ext cx="3501851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155927" y="1407393"/>
            <a:ext cx="1163836" cy="557659"/>
          </a:xfrm>
          <a:custGeom>
            <a:avLst/>
            <a:gdLst/>
            <a:ahLst/>
            <a:cxnLst/>
            <a:rect l="l" t="t" r="r" b="b"/>
            <a:pathLst>
              <a:path w="1163836" h="557659">
                <a:moveTo>
                  <a:pt x="43416" y="0"/>
                </a:moveTo>
                <a:lnTo>
                  <a:pt x="1163836" y="0"/>
                </a:lnTo>
                <a:lnTo>
                  <a:pt x="1163836" y="557659"/>
                </a:lnTo>
                <a:lnTo>
                  <a:pt x="0" y="557659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5279901" y="1486570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Metric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19763" y="1407393"/>
            <a:ext cx="1163836" cy="557659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443737" y="1486570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Subscribers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83599" y="1407393"/>
            <a:ext cx="1163836" cy="557659"/>
          </a:xfrm>
          <a:custGeom>
            <a:avLst/>
            <a:gdLst/>
            <a:ahLst/>
            <a:cxnLst/>
            <a:rect l="l" t="t" r="r" b="b"/>
            <a:pathLst>
              <a:path w="1163836" h="557659">
                <a:moveTo>
                  <a:pt x="0" y="0"/>
                </a:moveTo>
                <a:lnTo>
                  <a:pt x="1120420" y="0"/>
                </a:lnTo>
                <a:arcTo wR="43416" hR="43416" stAng="16200000" swAng="5400000"/>
                <a:lnTo>
                  <a:pt x="1163836" y="557659"/>
                </a:lnTo>
                <a:lnTo>
                  <a:pt x="0" y="557659"/>
                </a:lnTo>
                <a:lnTo>
                  <a:pt x="0" y="0"/>
                </a:lnTo>
                <a:close/>
              </a:path>
            </a:pathLst>
          </a:custGeom>
          <a:solidFill>
            <a:srgbClr val="1F3864"/>
          </a:solidFill>
          <a:ln/>
        </p:spPr>
      </p:sp>
      <p:sp>
        <p:nvSpPr>
          <p:cNvPr id="15" name="Text 12"/>
          <p:cNvSpPr/>
          <p:nvPr/>
        </p:nvSpPr>
        <p:spPr>
          <a:xfrm>
            <a:off x="7607573" y="1486570"/>
            <a:ext cx="91588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Non-Subscribers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279901" y="2046610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43737" y="2046610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607573" y="2046610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2,847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79901" y="2408188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43737" y="2408188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$62,645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607573" y="2408188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$170,436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79901" y="2769766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Spend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43737" y="2769766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$59.49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607573" y="2769766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$59.87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279901" y="3131344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Share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443737" y="3131344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27%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607573" y="3131344"/>
            <a:ext cx="13730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336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150718" y="3553271"/>
            <a:ext cx="3501851" cy="1079004"/>
          </a:xfrm>
          <a:prstGeom prst="roundRect">
            <a:avLst>
              <a:gd name="adj" fmla="val 4828"/>
            </a:avLst>
          </a:prstGeom>
          <a:solidFill>
            <a:srgbClr val="E1E1EA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692" y="3737818"/>
            <a:ext cx="155004" cy="12397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553670" y="3695849"/>
            <a:ext cx="297492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Strategic Opportunity: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spend is nearly identical across both groups — meaning subscription conversion is a volume play, not a spend-behavior change.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20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2314"/>
            <a:ext cx="3501851" cy="2656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05300" y="1236762"/>
            <a:ext cx="43472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 Profiles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305300" y="1570137"/>
            <a:ext cx="2111648" cy="1369144"/>
          </a:xfrm>
          <a:prstGeom prst="roundRect">
            <a:avLst>
              <a:gd name="adj" fmla="val 38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34036" y="1698873"/>
            <a:ext cx="18541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— 3,116 (79.9%)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34036" y="2016696"/>
            <a:ext cx="185417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purchasers with highest lifetime value. Core revenue engine of the business. Priority retention segment.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540922" y="1570137"/>
            <a:ext cx="2111648" cy="1369144"/>
          </a:xfrm>
          <a:prstGeom prst="roundRect">
            <a:avLst>
              <a:gd name="adj" fmla="val 38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69658" y="1698873"/>
            <a:ext cx="18541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 — 701 (18.0%)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69658" y="2016696"/>
            <a:ext cx="185417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Occasional repeat buyers. Key conversion target — incentives and personalized outreach can accelerate loyalty transition.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5300" y="3063255"/>
            <a:ext cx="4347270" cy="972220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036" y="3191991"/>
            <a:ext cx="40897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— 83 (2.1%)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34036" y="3509814"/>
            <a:ext cx="40897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First-time purchasers. Small but strategically important — onboarding experience determines long-term retention trajectory.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05300" y="4175001"/>
            <a:ext cx="4347270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Conversion Strategy: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Design a deliberate funnel — New → Returning → Loyal — using targeted engagement at each stage.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9792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Products &amp; Discount Dependency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51892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Top-Rated Products (Avg Star Rating)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88454"/>
            <a:ext cx="3957712" cy="2848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4932" y="851892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 Discount-Dependent Items (%)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932" y="1088454"/>
            <a:ext cx="3957712" cy="28487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6119" y="4107433"/>
            <a:ext cx="8151763" cy="676201"/>
          </a:xfrm>
          <a:prstGeom prst="roundRect">
            <a:avLst>
              <a:gd name="adj" fmla="val 601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0881" y="4112196"/>
            <a:ext cx="4071119" cy="666676"/>
          </a:xfrm>
          <a:custGeom>
            <a:avLst/>
            <a:gdLst/>
            <a:ahLst/>
            <a:cxnLst/>
            <a:rect l="l" t="t" r="r" b="b"/>
            <a:pathLst>
              <a:path w="4071119" h="666676">
                <a:moveTo>
                  <a:pt x="33919" y="0"/>
                </a:moveTo>
                <a:lnTo>
                  <a:pt x="4071119" y="0"/>
                </a:lnTo>
                <a:lnTo>
                  <a:pt x="4071119" y="666676"/>
                </a:lnTo>
                <a:lnTo>
                  <a:pt x="33919" y="666676"/>
                </a:lnTo>
                <a:arcTo wR="33919" hR="33919" stAng="5400000" swAng="5400000"/>
                <a:lnTo>
                  <a:pt x="0" y="33919"/>
                </a:lnTo>
                <a:arcTo wR="33919" hR="33919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Text 5"/>
          <p:cNvSpPr/>
          <p:nvPr/>
        </p:nvSpPr>
        <p:spPr>
          <a:xfrm>
            <a:off x="597768" y="4209083"/>
            <a:ext cx="3877345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7768" y="4405908"/>
            <a:ext cx="3877345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Premium-rated products (Gloves, Sandals, Boots) maintain customer satisfaction without heavy promotional pricing — signaling strong organic demand.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572000" y="4112196"/>
            <a:ext cx="4071119" cy="666676"/>
          </a:xfrm>
          <a:custGeom>
            <a:avLst/>
            <a:gdLst/>
            <a:ahLst/>
            <a:cxnLst/>
            <a:rect l="l" t="t" r="r" b="b"/>
            <a:pathLst>
              <a:path w="4071119" h="666676">
                <a:moveTo>
                  <a:pt x="0" y="0"/>
                </a:moveTo>
                <a:lnTo>
                  <a:pt x="4037200" y="0"/>
                </a:lnTo>
                <a:arcTo wR="33919" hR="33919" stAng="16200000" swAng="5400000"/>
                <a:lnTo>
                  <a:pt x="4071119" y="632757"/>
                </a:lnTo>
                <a:arcTo wR="33919" hR="33919" stAng="0" swAng="5400000"/>
                <a:lnTo>
                  <a:pt x="0" y="666676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0" y="4112196"/>
            <a:ext cx="14288" cy="666676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3" name="Text 9"/>
          <p:cNvSpPr/>
          <p:nvPr/>
        </p:nvSpPr>
        <p:spPr>
          <a:xfrm>
            <a:off x="4668887" y="4209083"/>
            <a:ext cx="3877345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68887" y="4405908"/>
            <a:ext cx="3877345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discount dependency on Hat, Sneakers, and Coat. Test margin-protective pricing while monitoring volume impact and rating trends.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0862"/>
            <a:ext cx="8151763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57820"/>
            <a:ext cx="5048250" cy="28717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611984"/>
            <a:ext cx="40499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96119" y="3915445"/>
            <a:ext cx="4049985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Customers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4052367"/>
            <a:ext cx="4049985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Analyzed across all segments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597896" y="3611984"/>
            <a:ext cx="40499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$59.76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597896" y="3915445"/>
            <a:ext cx="4049985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Purchase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97896" y="4052367"/>
            <a:ext cx="4049985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transaction amount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96119" y="4261619"/>
            <a:ext cx="40499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3.75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96119" y="4565079"/>
            <a:ext cx="4049985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Rating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6119" y="4702001"/>
            <a:ext cx="4049985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review score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597896" y="4261619"/>
            <a:ext cx="40499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27%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597896" y="4565079"/>
            <a:ext cx="4049985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Rate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97896" y="4702001"/>
            <a:ext cx="4049985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of active subscribers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98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Recommendations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27658"/>
            <a:ext cx="86089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data-driven strategic actions derived from SQL findings, segmentation analysis, and behavioral patterns across 3,900 transactions.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7787"/>
            <a:ext cx="300410" cy="3004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793677"/>
            <a:ext cx="2620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6119" y="2051224"/>
            <a:ext cx="2620268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member benefits, early access, and personalized offers. Conversion at current avg spend levels directly scales revenue.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866" y="1347787"/>
            <a:ext cx="300410" cy="3004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1866" y="1793677"/>
            <a:ext cx="2620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Loyalty Programs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261866" y="2051224"/>
            <a:ext cx="2620268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with tiered incentives to accelerate Loyal segment growth and increase customer lifetime value.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7613" y="1347787"/>
            <a:ext cx="300410" cy="3004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7613" y="1793677"/>
            <a:ext cx="2620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027613" y="2051224"/>
            <a:ext cx="2620268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Strategically reduce reliance on deep discounts for Hat, Sneakers, and Coat. Balance promotions with margin protection goals.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51696"/>
            <a:ext cx="300410" cy="3004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97585"/>
            <a:ext cx="2620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Positioning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96119" y="3555132"/>
            <a:ext cx="2620268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top-rated items — Gloves, Sandals, Boots — prominently in campaigns and homepage placements to leverage organic demand signals.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1866" y="2851696"/>
            <a:ext cx="300410" cy="3004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1866" y="3297585"/>
            <a:ext cx="2620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3261866" y="3555132"/>
            <a:ext cx="2620268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Young Adults and Express-shipping users, identified as highest-revenue cohorts, in paid acquisition and retention efforts.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96119" y="4253731"/>
            <a:ext cx="8151763" cy="470297"/>
          </a:xfrm>
          <a:prstGeom prst="roundRect">
            <a:avLst>
              <a:gd name="adj" fmla="val 10732"/>
            </a:avLst>
          </a:prstGeom>
          <a:solidFill>
            <a:srgbClr val="E1E1EA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23" y="4418781"/>
            <a:ext cx="150168" cy="1201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6495" y="4400104"/>
            <a:ext cx="809848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recommendations are directly traceable to SQL query outputs and segmentation findings — no assumptions beyond the data.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3CF2E-C81A-A8EB-38C8-50A32B1E6415}"/>
              </a:ext>
            </a:extLst>
          </p:cNvPr>
          <p:cNvSpPr txBox="1"/>
          <p:nvPr/>
        </p:nvSpPr>
        <p:spPr>
          <a:xfrm>
            <a:off x="1704109" y="2082738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Modern No. 20" panose="02070704070505020303" pitchFamily="18" charset="0"/>
              </a:rPr>
              <a:t>THANKYOU</a:t>
            </a:r>
            <a:endParaRPr lang="en-IN" sz="3200" dirty="0">
              <a:latin typeface="Modern No. 20" panose="0207070407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0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898</Words>
  <Application>Microsoft Office PowerPoint</Application>
  <PresentationFormat>On-screen Show (16:9)</PresentationFormat>
  <Paragraphs>152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Roboto</vt:lpstr>
      <vt:lpstr>Raleway</vt:lpstr>
      <vt:lpstr>Modern No. 20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Nishika</cp:lastModifiedBy>
  <cp:revision>2</cp:revision>
  <dcterms:created xsi:type="dcterms:W3CDTF">2026-08-13T14:14:41Z</dcterms:created>
  <dcterms:modified xsi:type="dcterms:W3CDTF">2026-08-13T14:19:54Z</dcterms:modified>
</cp:coreProperties>
</file>